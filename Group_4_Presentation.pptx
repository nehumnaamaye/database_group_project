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3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603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offee_cu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A0A00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114800" y="0"/>
            <a:ext cx="64008" cy="51435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Shape 2"/>
          <p:cNvSpPr/>
          <p:nvPr/>
        </p:nvSpPr>
        <p:spPr>
          <a:xfrm>
            <a:off x="4119372" y="118872"/>
            <a:ext cx="4965192" cy="5143500"/>
          </a:xfrm>
          <a:prstGeom prst="rect">
            <a:avLst/>
          </a:prstGeom>
          <a:solidFill>
            <a:srgbClr val="2C1A0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178808" y="0"/>
            <a:ext cx="4965192" cy="502920"/>
          </a:xfrm>
          <a:prstGeom prst="rect">
            <a:avLst/>
          </a:prstGeom>
          <a:solidFill>
            <a:srgbClr val="3B1F0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315968" y="1188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/>
              <a:t>Group 4 – COFFEE MANAGEMENT SYSTEM</a:t>
            </a: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658368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15968" y="5943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Coffee Management</a:t>
            </a:r>
            <a:endParaRPr lang="en-US" sz="3100" dirty="0"/>
          </a:p>
        </p:txBody>
      </p:sp>
      <p:sp>
        <p:nvSpPr>
          <p:cNvPr id="10" name="Text 6"/>
          <p:cNvSpPr/>
          <p:nvPr/>
        </p:nvSpPr>
        <p:spPr>
          <a:xfrm>
            <a:off x="4315968" y="126187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System</a:t>
            </a:r>
            <a:endParaRPr lang="en-US" sz="3100" dirty="0"/>
          </a:p>
        </p:txBody>
      </p:sp>
      <p:sp>
        <p:nvSpPr>
          <p:cNvPr id="11" name="Shape 7"/>
          <p:cNvSpPr/>
          <p:nvPr/>
        </p:nvSpPr>
        <p:spPr>
          <a:xfrm>
            <a:off x="4315968" y="2011680"/>
            <a:ext cx="4389120" cy="36576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12" name="Text 8"/>
          <p:cNvSpPr/>
          <p:nvPr/>
        </p:nvSpPr>
        <p:spPr>
          <a:xfrm>
            <a:off x="4315968" y="212140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Services Database for Coffee Farmers Support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315968" y="2834640"/>
            <a:ext cx="4526280" cy="402336"/>
          </a:xfrm>
          <a:prstGeom prst="rect">
            <a:avLst/>
          </a:prstGeom>
          <a:solidFill>
            <a:srgbClr val="3B1F0C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15968" y="2834640"/>
            <a:ext cx="64008" cy="40233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5" name="Text 11"/>
          <p:cNvSpPr/>
          <p:nvPr/>
        </p:nvSpPr>
        <p:spPr>
          <a:xfrm>
            <a:off x="4434840" y="2862072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20" dirty="0">
                <a:solidFill>
                  <a:srgbClr val="C9956C"/>
                </a:solidFill>
              </a:rPr>
              <a:t>GROUP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4434840" y="30175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CD7"/>
                </a:solidFill>
              </a:rPr>
              <a:t>Group 4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315968" y="3310128"/>
            <a:ext cx="4526280" cy="402336"/>
          </a:xfrm>
          <a:prstGeom prst="rect">
            <a:avLst/>
          </a:prstGeom>
          <a:solidFill>
            <a:srgbClr val="3B1F0C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315968" y="3310128"/>
            <a:ext cx="64008" cy="40233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9" name="Text 15"/>
          <p:cNvSpPr/>
          <p:nvPr/>
        </p:nvSpPr>
        <p:spPr>
          <a:xfrm>
            <a:off x="4434840" y="3337560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20" dirty="0">
                <a:solidFill>
                  <a:srgbClr val="C9956C"/>
                </a:solidFill>
              </a:rPr>
              <a:t>FACULTY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4434840" y="349300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CD7"/>
                </a:solidFill>
              </a:rPr>
              <a:t>Engineering, Design &amp; Technology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315968" y="3785616"/>
            <a:ext cx="4526280" cy="402336"/>
          </a:xfrm>
          <a:prstGeom prst="rect">
            <a:avLst/>
          </a:prstGeom>
          <a:solidFill>
            <a:srgbClr val="3B1F0C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315968" y="3785616"/>
            <a:ext cx="64008" cy="40233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3" name="Text 19"/>
          <p:cNvSpPr/>
          <p:nvPr/>
        </p:nvSpPr>
        <p:spPr>
          <a:xfrm>
            <a:off x="4434840" y="3813048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20" dirty="0">
                <a:solidFill>
                  <a:srgbClr val="C9956C"/>
                </a:solidFill>
              </a:rPr>
              <a:t>COURSE</a:t>
            </a:r>
            <a:endParaRPr lang="en-US" sz="700" dirty="0"/>
          </a:p>
        </p:txBody>
      </p:sp>
      <p:sp>
        <p:nvSpPr>
          <p:cNvPr id="24" name="Text 20"/>
          <p:cNvSpPr/>
          <p:nvPr/>
        </p:nvSpPr>
        <p:spPr>
          <a:xfrm>
            <a:off x="4434840" y="396849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CD7"/>
                </a:solidFill>
              </a:rPr>
              <a:t>Database Design and Development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315968" y="4261104"/>
            <a:ext cx="4526280" cy="402336"/>
          </a:xfrm>
          <a:prstGeom prst="rect">
            <a:avLst/>
          </a:prstGeom>
          <a:solidFill>
            <a:srgbClr val="3B1F0C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315968" y="4261104"/>
            <a:ext cx="64008" cy="40233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7" name="Text 23"/>
          <p:cNvSpPr/>
          <p:nvPr/>
        </p:nvSpPr>
        <p:spPr>
          <a:xfrm>
            <a:off x="4434840" y="4288536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20" dirty="0">
                <a:solidFill>
                  <a:srgbClr val="C9956C"/>
                </a:solidFill>
              </a:rPr>
              <a:t>SEMESTER</a:t>
            </a:r>
            <a:endParaRPr lang="en-US" sz="700" dirty="0"/>
          </a:p>
        </p:txBody>
      </p:sp>
      <p:sp>
        <p:nvSpPr>
          <p:cNvPr id="28" name="Text 24"/>
          <p:cNvSpPr/>
          <p:nvPr/>
        </p:nvSpPr>
        <p:spPr>
          <a:xfrm>
            <a:off x="4434840" y="444398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CD7"/>
                </a:solidFill>
              </a:rPr>
              <a:t>Easter Semester 2026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4315968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5E3C"/>
                </a:solidFill>
              </a:rPr>
              <a:t>April 12, 2026  ·  Mukono, Uganda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offee_far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1097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0A00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926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OVERVIEW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347472" y="1234440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47472" y="1234440"/>
            <a:ext cx="2697480" cy="64008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7" name="Shape 4"/>
          <p:cNvSpPr/>
          <p:nvPr/>
        </p:nvSpPr>
        <p:spPr>
          <a:xfrm>
            <a:off x="493776" y="1417320"/>
            <a:ext cx="512064" cy="512064"/>
          </a:xfrm>
          <a:prstGeom prst="ellipse">
            <a:avLst/>
          </a:prstGeom>
          <a:solidFill>
            <a:srgbClr val="F5ECD7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1444752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1389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475488" y="198424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75488" y="2304288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3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Uganda's coffee sector challenges &amp; the solution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200400" y="1234440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0" y="1234440"/>
            <a:ext cx="2697480" cy="64008"/>
          </a:xfrm>
          <a:prstGeom prst="rect">
            <a:avLst/>
          </a:prstGeom>
          <a:solidFill>
            <a:srgbClr val="C9956C"/>
          </a:solidFill>
          <a:ln/>
        </p:spPr>
      </p:sp>
      <p:sp>
        <p:nvSpPr>
          <p:cNvPr id="14" name="Shape 10"/>
          <p:cNvSpPr/>
          <p:nvPr/>
        </p:nvSpPr>
        <p:spPr>
          <a:xfrm>
            <a:off x="3346704" y="1417320"/>
            <a:ext cx="512064" cy="512064"/>
          </a:xfrm>
          <a:prstGeom prst="ellipse">
            <a:avLst/>
          </a:prstGeom>
          <a:solidFill>
            <a:srgbClr val="F5ECD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136" y="144475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50208" y="1389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95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3328416" y="198424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328416" y="2304288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3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needs, data entities &amp; assumptions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053328" y="1234440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053328" y="1234440"/>
            <a:ext cx="2697480" cy="64008"/>
          </a:xfrm>
          <a:prstGeom prst="rect">
            <a:avLst/>
          </a:prstGeom>
          <a:solidFill>
            <a:srgbClr val="9BC4E2"/>
          </a:solidFill>
          <a:ln/>
        </p:spPr>
      </p:sp>
      <p:sp>
        <p:nvSpPr>
          <p:cNvPr id="21" name="Shape 16"/>
          <p:cNvSpPr/>
          <p:nvPr/>
        </p:nvSpPr>
        <p:spPr>
          <a:xfrm>
            <a:off x="6199632" y="1417320"/>
            <a:ext cx="512064" cy="512064"/>
          </a:xfrm>
          <a:prstGeom prst="ellipse">
            <a:avLst/>
          </a:prstGeom>
          <a:solidFill>
            <a:srgbClr val="F5ECD7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064" y="1444752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03136" y="1389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BC4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Text 18"/>
          <p:cNvSpPr/>
          <p:nvPr/>
        </p:nvSpPr>
        <p:spPr>
          <a:xfrm>
            <a:off x="6181344" y="198424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181344" y="2304288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3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EERD entities, schema structure &amp; design logic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347472" y="3108960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47472" y="3108960"/>
            <a:ext cx="2697480" cy="64008"/>
          </a:xfrm>
          <a:prstGeom prst="rect">
            <a:avLst/>
          </a:prstGeom>
          <a:solidFill>
            <a:srgbClr val="A3C4A1"/>
          </a:solidFill>
          <a:ln/>
        </p:spPr>
      </p:sp>
      <p:sp>
        <p:nvSpPr>
          <p:cNvPr id="28" name="Shape 22"/>
          <p:cNvSpPr/>
          <p:nvPr/>
        </p:nvSpPr>
        <p:spPr>
          <a:xfrm>
            <a:off x="493776" y="3291840"/>
            <a:ext cx="512064" cy="512064"/>
          </a:xfrm>
          <a:prstGeom prst="ellipse">
            <a:avLst/>
          </a:prstGeom>
          <a:solidFill>
            <a:srgbClr val="F5ECD7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" y="3319272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97280" y="32644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3C4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31" name="Text 24"/>
          <p:cNvSpPr/>
          <p:nvPr/>
        </p:nvSpPr>
        <p:spPr>
          <a:xfrm>
            <a:off x="475488" y="385876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475488" y="4178808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3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MySQL, views, tools &amp; SQL code samples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3200400" y="3108960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3200400" y="3108960"/>
            <a:ext cx="2697480" cy="64008"/>
          </a:xfrm>
          <a:prstGeom prst="rect">
            <a:avLst/>
          </a:prstGeom>
          <a:solidFill>
            <a:srgbClr val="D4A8A8"/>
          </a:solidFill>
          <a:ln/>
        </p:spPr>
      </p:sp>
      <p:sp>
        <p:nvSpPr>
          <p:cNvPr id="35" name="Shape 28"/>
          <p:cNvSpPr/>
          <p:nvPr/>
        </p:nvSpPr>
        <p:spPr>
          <a:xfrm>
            <a:off x="3346704" y="3291840"/>
            <a:ext cx="512064" cy="512064"/>
          </a:xfrm>
          <a:prstGeom prst="ellipse">
            <a:avLst/>
          </a:prstGeom>
          <a:solidFill>
            <a:srgbClr val="F5ECD7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4136" y="3319272"/>
            <a:ext cx="457200" cy="45720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3950208" y="32644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38" name="Text 30"/>
          <p:cNvSpPr/>
          <p:nvPr/>
        </p:nvSpPr>
        <p:spPr>
          <a:xfrm>
            <a:off x="3328416" y="385876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Automation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3328416" y="4178808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3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Procedures, triggers &amp; role-based access control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6053328" y="3108960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6053328" y="3108960"/>
            <a:ext cx="2697480" cy="64008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2" name="Shape 34"/>
          <p:cNvSpPr/>
          <p:nvPr/>
        </p:nvSpPr>
        <p:spPr>
          <a:xfrm>
            <a:off x="6199632" y="3291840"/>
            <a:ext cx="512064" cy="512064"/>
          </a:xfrm>
          <a:prstGeom prst="ellipse">
            <a:avLst/>
          </a:prstGeom>
          <a:solidFill>
            <a:srgbClr val="F5ECD7"/>
          </a:solidFill>
          <a:ln/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7064" y="3319272"/>
            <a:ext cx="457200" cy="45720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6803136" y="32644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400" dirty="0"/>
          </a:p>
        </p:txBody>
      </p:sp>
      <p:sp>
        <p:nvSpPr>
          <p:cNvPr id="45" name="Text 36"/>
          <p:cNvSpPr/>
          <p:nvPr/>
        </p:nvSpPr>
        <p:spPr>
          <a:xfrm>
            <a:off x="6181344" y="385876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6" name="Text 37"/>
          <p:cNvSpPr/>
          <p:nvPr/>
        </p:nvSpPr>
        <p:spPr>
          <a:xfrm>
            <a:off x="6181344" y="4178808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3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Achievements, future scope &amp; recommendations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offee_far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00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D4A853"/>
                </a:solidFill>
              </a:rPr>
              <a:t>01  |  PROJECT BACKGROUND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40233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Uganda's Coffee Sector &amp; The Problem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11480" y="1188720"/>
            <a:ext cx="2606040" cy="1280160"/>
          </a:xfrm>
          <a:prstGeom prst="rect">
            <a:avLst/>
          </a:prstGeom>
          <a:solidFill>
            <a:srgbClr val="3B1F0C">
              <a:alpha val="75000"/>
            </a:srgbClr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11480" y="1188720"/>
            <a:ext cx="64008" cy="12801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8" name="Text 5"/>
          <p:cNvSpPr/>
          <p:nvPr/>
        </p:nvSpPr>
        <p:spPr>
          <a:xfrm>
            <a:off x="612648" y="120700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612648" y="189280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Uganda's Top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Crop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64408" y="1188720"/>
            <a:ext cx="2606040" cy="1280160"/>
          </a:xfrm>
          <a:prstGeom prst="rect">
            <a:avLst/>
          </a:prstGeom>
          <a:solidFill>
            <a:srgbClr val="3B1F0C">
              <a:alpha val="75000"/>
            </a:srgbClr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64408" y="1188720"/>
            <a:ext cx="64008" cy="12801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2" name="Text 9"/>
          <p:cNvSpPr/>
          <p:nvPr/>
        </p:nvSpPr>
        <p:spPr>
          <a:xfrm>
            <a:off x="3465576" y="120700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3M+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3465576" y="189280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Farming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17336" y="1188720"/>
            <a:ext cx="2606040" cy="1280160"/>
          </a:xfrm>
          <a:prstGeom prst="rect">
            <a:avLst/>
          </a:prstGeom>
          <a:solidFill>
            <a:srgbClr val="3B1F0C">
              <a:alpha val="75000"/>
            </a:srgbClr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17336" y="1188720"/>
            <a:ext cx="64008" cy="12801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6" name="Text 13"/>
          <p:cNvSpPr/>
          <p:nvPr/>
        </p:nvSpPr>
        <p:spPr>
          <a:xfrm>
            <a:off x="6318504" y="120700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6318504" y="189280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Systems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11480" y="2651760"/>
            <a:ext cx="8321040" cy="2286000"/>
          </a:xfrm>
          <a:prstGeom prst="rect">
            <a:avLst/>
          </a:prstGeom>
          <a:solidFill>
            <a:srgbClr val="2C1A0E">
              <a:alpha val="82000"/>
            </a:srgbClr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94360" y="272491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53"/>
                </a:solidFill>
              </a:rPr>
              <a:t>KEY CHALLENGES ADDRESSED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94360" y="3108960"/>
            <a:ext cx="182880" cy="18288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21" name="Text 18"/>
          <p:cNvSpPr/>
          <p:nvPr/>
        </p:nvSpPr>
        <p:spPr>
          <a:xfrm>
            <a:off x="914400" y="3044952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lack a system to register their identity, farms, and plots with the Ministry of Agriculture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94360" y="3547872"/>
            <a:ext cx="182880" cy="18288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" y="3483864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way to track distribution of seeds, fertilisers, and other agricultural inputs to farmers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94360" y="3986784"/>
            <a:ext cx="182880" cy="18288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25" name="Text 22"/>
          <p:cNvSpPr/>
          <p:nvPr/>
        </p:nvSpPr>
        <p:spPr>
          <a:xfrm>
            <a:off x="914400" y="3922776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workers have no platform to log farm visits, advice sessions, or training attendance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94360" y="4425696"/>
            <a:ext cx="182880" cy="18288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27" name="Text 24"/>
          <p:cNvSpPr/>
          <p:nvPr/>
        </p:nvSpPr>
        <p:spPr>
          <a:xfrm>
            <a:off x="914400" y="4361688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cannot generate data-driven yield forecasts or monthly support distribution reports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B1F0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956C"/>
                </a:solidFill>
              </a:rPr>
              <a:t>02  |  SYSTEM REQUIREMENTS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9319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System Must Do</a:t>
            </a:r>
            <a:endParaRPr lang="en-US" sz="2500" dirty="0"/>
          </a:p>
        </p:txBody>
      </p:sp>
      <p:pic>
        <p:nvPicPr>
          <p:cNvPr id="5" name="Image 0" descr="/home/claude/coffee_cu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63640" y="987552"/>
            <a:ext cx="265176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63640" y="987552"/>
            <a:ext cx="2651760" cy="3931920"/>
          </a:xfrm>
          <a:prstGeom prst="rect">
            <a:avLst/>
          </a:prstGeom>
          <a:solidFill>
            <a:srgbClr val="F5ECD7">
              <a:alpha val="4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47472" y="1069848"/>
            <a:ext cx="571500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47472" y="1069848"/>
            <a:ext cx="64008" cy="69494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9" name="Shape 6"/>
          <p:cNvSpPr/>
          <p:nvPr/>
        </p:nvSpPr>
        <p:spPr>
          <a:xfrm>
            <a:off x="493776" y="1188720"/>
            <a:ext cx="457200" cy="457200"/>
          </a:xfrm>
          <a:prstGeom prst="ellipse">
            <a:avLst/>
          </a:prstGeom>
          <a:solidFill>
            <a:srgbClr val="F5ECD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121615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42416" y="1133856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&amp; Farm Profiling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042416" y="140817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3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farmers using NIN. One farmer may own multiple farms — each tracked independently with GPS and total acreage.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47472" y="1837944"/>
            <a:ext cx="571500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7472" y="1837944"/>
            <a:ext cx="64008" cy="69494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5" name="Shape 11"/>
          <p:cNvSpPr/>
          <p:nvPr/>
        </p:nvSpPr>
        <p:spPr>
          <a:xfrm>
            <a:off x="493776" y="1956816"/>
            <a:ext cx="457200" cy="457200"/>
          </a:xfrm>
          <a:prstGeom prst="ellipse">
            <a:avLst/>
          </a:prstGeom>
          <a:solidFill>
            <a:srgbClr val="F5ECD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1984248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42416" y="1901952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Tracking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42416" y="217627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3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seasonal harvest data per plot: coffee variety (Robusta/Arabica), volume (kg), and quality grade (A–D by UCDA standards).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347472" y="2606040"/>
            <a:ext cx="571500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47472" y="2606040"/>
            <a:ext cx="64008" cy="69494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1" name="Shape 16"/>
          <p:cNvSpPr/>
          <p:nvPr/>
        </p:nvSpPr>
        <p:spPr>
          <a:xfrm>
            <a:off x="493776" y="2724912"/>
            <a:ext cx="457200" cy="457200"/>
          </a:xfrm>
          <a:prstGeom prst="ellipse">
            <a:avLst/>
          </a:prstGeom>
          <a:solidFill>
            <a:srgbClr val="F5ECD7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2752344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42416" y="2670048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Seedling Distribution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42416" y="294436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3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inventory of seeds and fertilisers. Validate allocation against registered acreage to prevent over-allocation.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47472" y="3374136"/>
            <a:ext cx="571500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47472" y="3374136"/>
            <a:ext cx="64008" cy="69494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7" name="Shape 21"/>
          <p:cNvSpPr/>
          <p:nvPr/>
        </p:nvSpPr>
        <p:spPr>
          <a:xfrm>
            <a:off x="493776" y="3493008"/>
            <a:ext cx="457200" cy="457200"/>
          </a:xfrm>
          <a:prstGeom prst="ellipse">
            <a:avLst/>
          </a:prstGeom>
          <a:solidFill>
            <a:srgbClr val="F5ECD7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" y="3520440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42416" y="3438144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Services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1042416" y="371246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3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field workers to geographic zones. Log every advice session: date, farmer visited, and recommendation given.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347472" y="4142232"/>
            <a:ext cx="571500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47472" y="4142232"/>
            <a:ext cx="64008" cy="69494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3" name="Shape 26"/>
          <p:cNvSpPr/>
          <p:nvPr/>
        </p:nvSpPr>
        <p:spPr>
          <a:xfrm>
            <a:off x="493776" y="4261104"/>
            <a:ext cx="457200" cy="457200"/>
          </a:xfrm>
          <a:prstGeom prst="ellipse">
            <a:avLst/>
          </a:prstGeom>
          <a:solidFill>
            <a:srgbClr val="F5ECD7"/>
          </a:solidFill>
          <a:ln/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208" y="428853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042416" y="420624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Audit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1042416" y="448056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3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database users with least-privilege grants. Automatic audit log on sensitive tables for accountability.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D5C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3C4A1"/>
                </a:solidFill>
              </a:rPr>
              <a:t>03  |  SYSTEM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Entity-Relationship Structure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292608" y="1097280"/>
            <a:ext cx="2743200" cy="1188720"/>
          </a:xfrm>
          <a:prstGeom prst="rect">
            <a:avLst/>
          </a:prstGeom>
          <a:solidFill>
            <a:srgbClr val="3B1F0C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097280"/>
            <a:ext cx="2743200" cy="329184"/>
          </a:xfrm>
          <a:prstGeom prst="rect">
            <a:avLst/>
          </a:prstGeom>
          <a:solidFill>
            <a:srgbClr val="1A0A00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1097280"/>
            <a:ext cx="54864" cy="1188720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" y="114300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336" y="1463040"/>
            <a:ext cx="2560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national_id (PK)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full_name · gender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 · phone · email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36976" y="1097280"/>
            <a:ext cx="2743200" cy="1188720"/>
          </a:xfrm>
          <a:prstGeom prst="rect">
            <a:avLst/>
          </a:prstGeom>
          <a:solidFill>
            <a:srgbClr val="3B1F0C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36976" y="1097280"/>
            <a:ext cx="2743200" cy="329184"/>
          </a:xfrm>
          <a:prstGeom prst="rect">
            <a:avLst/>
          </a:prstGeom>
          <a:solidFill>
            <a:srgbClr val="1A0A00"/>
          </a:solidFill>
          <a:ln/>
        </p:spPr>
      </p:sp>
      <p:sp>
        <p:nvSpPr>
          <p:cNvPr id="12" name="Shape 10"/>
          <p:cNvSpPr/>
          <p:nvPr/>
        </p:nvSpPr>
        <p:spPr>
          <a:xfrm>
            <a:off x="3236976" y="1097280"/>
            <a:ext cx="54864" cy="1188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3346704" y="114300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FARMER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46704" y="1463040"/>
            <a:ext cx="2560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farmer_id (PK)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national_id (FK)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land_size_acres · subcounty_id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81344" y="1097280"/>
            <a:ext cx="2743200" cy="1188720"/>
          </a:xfrm>
          <a:prstGeom prst="rect">
            <a:avLst/>
          </a:prstGeom>
          <a:solidFill>
            <a:srgbClr val="3B1F0C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1097280"/>
            <a:ext cx="2743200" cy="329184"/>
          </a:xfrm>
          <a:prstGeom prst="rect">
            <a:avLst/>
          </a:prstGeom>
          <a:solidFill>
            <a:srgbClr val="1A0A00"/>
          </a:solidFill>
          <a:ln/>
        </p:spPr>
      </p:sp>
      <p:sp>
        <p:nvSpPr>
          <p:cNvPr id="17" name="Shape 15"/>
          <p:cNvSpPr/>
          <p:nvPr/>
        </p:nvSpPr>
        <p:spPr>
          <a:xfrm>
            <a:off x="6181344" y="1097280"/>
            <a:ext cx="54864" cy="1188720"/>
          </a:xfrm>
          <a:prstGeom prst="rect">
            <a:avLst/>
          </a:prstGeom>
          <a:solidFill>
            <a:srgbClr val="A3C4A1"/>
          </a:solidFill>
          <a:ln/>
        </p:spPr>
      </p:sp>
      <p:sp>
        <p:nvSpPr>
          <p:cNvPr id="18" name="Text 16"/>
          <p:cNvSpPr/>
          <p:nvPr/>
        </p:nvSpPr>
        <p:spPr>
          <a:xfrm>
            <a:off x="6291072" y="114300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3C4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EXTENSION WORKER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91072" y="1463040"/>
            <a:ext cx="2560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worker_id (PK)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national_id (FK)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qualification · zone_id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2608" y="2395728"/>
            <a:ext cx="2743200" cy="1188720"/>
          </a:xfrm>
          <a:prstGeom prst="rect">
            <a:avLst/>
          </a:prstGeom>
          <a:solidFill>
            <a:srgbClr val="3B1F0C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2608" y="2395728"/>
            <a:ext cx="2743200" cy="329184"/>
          </a:xfrm>
          <a:prstGeom prst="rect">
            <a:avLst/>
          </a:prstGeom>
          <a:solidFill>
            <a:srgbClr val="1A0A00"/>
          </a:solidFill>
          <a:ln/>
        </p:spPr>
      </p:sp>
      <p:sp>
        <p:nvSpPr>
          <p:cNvPr id="22" name="Shape 20"/>
          <p:cNvSpPr/>
          <p:nvPr/>
        </p:nvSpPr>
        <p:spPr>
          <a:xfrm>
            <a:off x="292608" y="2395728"/>
            <a:ext cx="54864" cy="1188720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23" name="Text 21"/>
          <p:cNvSpPr/>
          <p:nvPr/>
        </p:nvSpPr>
        <p:spPr>
          <a:xfrm>
            <a:off x="402336" y="244144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02336" y="2761488"/>
            <a:ext cx="2560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farm_id (PK)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farmer_id (FK)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total_area_acre · gps_coords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36976" y="2395728"/>
            <a:ext cx="2743200" cy="1188720"/>
          </a:xfrm>
          <a:prstGeom prst="rect">
            <a:avLst/>
          </a:prstGeom>
          <a:solidFill>
            <a:srgbClr val="3B1F0C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36976" y="2395728"/>
            <a:ext cx="2743200" cy="329184"/>
          </a:xfrm>
          <a:prstGeom prst="rect">
            <a:avLst/>
          </a:prstGeom>
          <a:solidFill>
            <a:srgbClr val="1A0A00"/>
          </a:solidFill>
          <a:ln/>
        </p:spPr>
      </p:sp>
      <p:sp>
        <p:nvSpPr>
          <p:cNvPr id="27" name="Shape 25"/>
          <p:cNvSpPr/>
          <p:nvPr/>
        </p:nvSpPr>
        <p:spPr>
          <a:xfrm>
            <a:off x="3236976" y="2395728"/>
            <a:ext cx="54864" cy="1188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8" name="Text 26"/>
          <p:cNvSpPr/>
          <p:nvPr/>
        </p:nvSpPr>
        <p:spPr>
          <a:xfrm>
            <a:off x="3346704" y="244144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FARM_PLOT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46704" y="2761488"/>
            <a:ext cx="2560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plot_id (PK)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farm_id (FK)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coffee_variety · area_acres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81344" y="2395728"/>
            <a:ext cx="2743200" cy="1188720"/>
          </a:xfrm>
          <a:prstGeom prst="rect">
            <a:avLst/>
          </a:prstGeom>
          <a:solidFill>
            <a:srgbClr val="3B1F0C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81344" y="2395728"/>
            <a:ext cx="2743200" cy="329184"/>
          </a:xfrm>
          <a:prstGeom prst="rect">
            <a:avLst/>
          </a:prstGeom>
          <a:solidFill>
            <a:srgbClr val="1A0A00"/>
          </a:solidFill>
          <a:ln/>
        </p:spPr>
      </p:sp>
      <p:sp>
        <p:nvSpPr>
          <p:cNvPr id="32" name="Shape 30"/>
          <p:cNvSpPr/>
          <p:nvPr/>
        </p:nvSpPr>
        <p:spPr>
          <a:xfrm>
            <a:off x="6181344" y="2395728"/>
            <a:ext cx="54864" cy="1188720"/>
          </a:xfrm>
          <a:prstGeom prst="rect">
            <a:avLst/>
          </a:prstGeom>
          <a:solidFill>
            <a:srgbClr val="C9956C"/>
          </a:solidFill>
          <a:ln/>
        </p:spPr>
      </p:sp>
      <p:sp>
        <p:nvSpPr>
          <p:cNvPr id="33" name="Text 31"/>
          <p:cNvSpPr/>
          <p:nvPr/>
        </p:nvSpPr>
        <p:spPr>
          <a:xfrm>
            <a:off x="6291072" y="244144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5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 REPORT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91072" y="2761488"/>
            <a:ext cx="2560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report_id (PK)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plot_id (FK)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quantity_kg · quality_grade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92608" y="3694176"/>
            <a:ext cx="2743200" cy="1188720"/>
          </a:xfrm>
          <a:prstGeom prst="rect">
            <a:avLst/>
          </a:prstGeom>
          <a:solidFill>
            <a:srgbClr val="3B1F0C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92608" y="3694176"/>
            <a:ext cx="2743200" cy="329184"/>
          </a:xfrm>
          <a:prstGeom prst="rect">
            <a:avLst/>
          </a:prstGeom>
          <a:solidFill>
            <a:srgbClr val="1A0A00"/>
          </a:solidFill>
          <a:ln/>
        </p:spPr>
      </p:sp>
      <p:sp>
        <p:nvSpPr>
          <p:cNvPr id="37" name="Shape 35"/>
          <p:cNvSpPr/>
          <p:nvPr/>
        </p:nvSpPr>
        <p:spPr>
          <a:xfrm>
            <a:off x="292608" y="3694176"/>
            <a:ext cx="54864" cy="1188720"/>
          </a:xfrm>
          <a:prstGeom prst="rect">
            <a:avLst/>
          </a:prstGeom>
          <a:solidFill>
            <a:srgbClr val="A3C4A1"/>
          </a:solidFill>
          <a:ln/>
        </p:spPr>
      </p:sp>
      <p:sp>
        <p:nvSpPr>
          <p:cNvPr id="38" name="Text 36"/>
          <p:cNvSpPr/>
          <p:nvPr/>
        </p:nvSpPr>
        <p:spPr>
          <a:xfrm>
            <a:off x="402336" y="373989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3C4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FARM_VISIT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02336" y="4059936"/>
            <a:ext cx="2560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visit_id (PK)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worker_id (FK) · farmer_id (FK)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visit_date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36976" y="3694176"/>
            <a:ext cx="2743200" cy="1188720"/>
          </a:xfrm>
          <a:prstGeom prst="rect">
            <a:avLst/>
          </a:prstGeom>
          <a:solidFill>
            <a:srgbClr val="3B1F0C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36976" y="3694176"/>
            <a:ext cx="2743200" cy="329184"/>
          </a:xfrm>
          <a:prstGeom prst="rect">
            <a:avLst/>
          </a:prstGeom>
          <a:solidFill>
            <a:srgbClr val="1A0A00"/>
          </a:solidFill>
          <a:ln/>
        </p:spPr>
      </p:sp>
      <p:sp>
        <p:nvSpPr>
          <p:cNvPr id="42" name="Shape 40"/>
          <p:cNvSpPr/>
          <p:nvPr/>
        </p:nvSpPr>
        <p:spPr>
          <a:xfrm>
            <a:off x="3236976" y="3694176"/>
            <a:ext cx="54864" cy="1188720"/>
          </a:xfrm>
          <a:prstGeom prst="rect">
            <a:avLst/>
          </a:prstGeom>
          <a:solidFill>
            <a:srgbClr val="C9956C"/>
          </a:solidFill>
          <a:ln/>
        </p:spPr>
      </p:sp>
      <p:sp>
        <p:nvSpPr>
          <p:cNvPr id="43" name="Text 41"/>
          <p:cNvSpPr/>
          <p:nvPr/>
        </p:nvSpPr>
        <p:spPr>
          <a:xfrm>
            <a:off x="3346704" y="373989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5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DISTRIBUTION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46704" y="4059936"/>
            <a:ext cx="2560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dist_id (PK)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visit_id (FK) · product_id (FK)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81344" y="3694176"/>
            <a:ext cx="2743200" cy="1188720"/>
          </a:xfrm>
          <a:prstGeom prst="rect">
            <a:avLst/>
          </a:prstGeom>
          <a:solidFill>
            <a:srgbClr val="3B1F0C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81344" y="3694176"/>
            <a:ext cx="2743200" cy="329184"/>
          </a:xfrm>
          <a:prstGeom prst="rect">
            <a:avLst/>
          </a:prstGeom>
          <a:solidFill>
            <a:srgbClr val="1A0A00"/>
          </a:solidFill>
          <a:ln/>
        </p:spPr>
      </p:sp>
      <p:sp>
        <p:nvSpPr>
          <p:cNvPr id="47" name="Shape 45"/>
          <p:cNvSpPr/>
          <p:nvPr/>
        </p:nvSpPr>
        <p:spPr>
          <a:xfrm>
            <a:off x="6181344" y="3694176"/>
            <a:ext cx="54864" cy="1188720"/>
          </a:xfrm>
          <a:prstGeom prst="rect">
            <a:avLst/>
          </a:prstGeom>
          <a:solidFill>
            <a:srgbClr val="D4A8A8"/>
          </a:solidFill>
          <a:ln/>
        </p:spPr>
      </p:sp>
      <p:sp>
        <p:nvSpPr>
          <p:cNvPr id="48" name="Text 46"/>
          <p:cNvSpPr/>
          <p:nvPr/>
        </p:nvSpPr>
        <p:spPr>
          <a:xfrm>
            <a:off x="6291072" y="373989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AUDIT_LOG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91072" y="4059936"/>
            <a:ext cx="2560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log_id (PK)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action_type · table_name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changed_by · timestamp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956C"/>
                </a:solidFill>
              </a:rPr>
              <a:t>04  |  DATABASE 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9319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Views, Tools &amp; SQL in Action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2606040" cy="38587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78992"/>
            <a:ext cx="2606040" cy="365760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1155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TOOLS USED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572768"/>
            <a:ext cx="457200" cy="457200"/>
          </a:xfrm>
          <a:prstGeom prst="ellipse">
            <a:avLst/>
          </a:prstGeom>
          <a:solidFill>
            <a:srgbClr val="F5ECD7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600200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0704" y="15910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0A00"/>
                </a:solidFill>
              </a:rPr>
              <a:t>MySQL 8.0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60704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3A25"/>
                </a:solidFill>
              </a:rPr>
              <a:t>Primary RDBMS — all schema, views, triggers &amp; procedures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2395728"/>
            <a:ext cx="457200" cy="457200"/>
          </a:xfrm>
          <a:prstGeom prst="ellipse">
            <a:avLst/>
          </a:prstGeom>
          <a:solidFill>
            <a:srgbClr val="F5ECD7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423160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60704" y="24140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0A00"/>
                </a:solidFill>
              </a:rPr>
              <a:t>MySQL Workbench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060704" y="2651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3A25"/>
                </a:solidFill>
              </a:rPr>
              <a:t>Schema design, query testing &amp; ER diagramming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02920" y="3218688"/>
            <a:ext cx="457200" cy="457200"/>
          </a:xfrm>
          <a:prstGeom prst="ellipse">
            <a:avLst/>
          </a:prstGeom>
          <a:solidFill>
            <a:srgbClr val="F5ECD7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246120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60704" y="323697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0A00"/>
                </a:solidFill>
              </a:rPr>
              <a:t>VS Code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060704" y="3474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3A25"/>
                </a:solidFill>
              </a:rPr>
              <a:t>SQL script editing with syntax highlighting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02920" y="4041648"/>
            <a:ext cx="457200" cy="457200"/>
          </a:xfrm>
          <a:prstGeom prst="ellipse">
            <a:avLst/>
          </a:prstGeom>
          <a:solidFill>
            <a:srgbClr val="F5ECD7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4069080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60704" y="40599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0A00"/>
                </a:solidFill>
              </a:rPr>
              <a:t>draw.io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1060704" y="4297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3A25"/>
                </a:solidFill>
              </a:rPr>
              <a:t>EERD construction and visualisation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154680" y="1078992"/>
            <a:ext cx="5650992" cy="3858768"/>
          </a:xfrm>
          <a:prstGeom prst="rect">
            <a:avLst/>
          </a:prstGeom>
          <a:solidFill>
            <a:srgbClr val="2C1A0E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154680" y="1078992"/>
            <a:ext cx="5650992" cy="365760"/>
          </a:xfrm>
          <a:prstGeom prst="rect">
            <a:avLst/>
          </a:prstGeom>
          <a:solidFill>
            <a:srgbClr val="3B1F0C"/>
          </a:solidFill>
          <a:ln/>
        </p:spPr>
      </p:sp>
      <p:sp>
        <p:nvSpPr>
          <p:cNvPr id="26" name="Shape 20"/>
          <p:cNvSpPr/>
          <p:nvPr/>
        </p:nvSpPr>
        <p:spPr>
          <a:xfrm>
            <a:off x="3246120" y="1161288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7" name="Shape 21"/>
          <p:cNvSpPr/>
          <p:nvPr/>
        </p:nvSpPr>
        <p:spPr>
          <a:xfrm>
            <a:off x="3474720" y="1161288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8" name="Shape 22"/>
          <p:cNvSpPr/>
          <p:nvPr/>
        </p:nvSpPr>
        <p:spPr>
          <a:xfrm>
            <a:off x="3703320" y="1161288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9" name="Text 23"/>
          <p:cNvSpPr/>
          <p:nvPr/>
        </p:nvSpPr>
        <p:spPr>
          <a:xfrm>
            <a:off x="3977640" y="11155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vw_farmer_profile  — Farmer Profile View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3273552" y="1490472"/>
            <a:ext cx="544068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vw_farmer_profile 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f.farmer_id,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p.full_name,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p.gender,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p.phone,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p.email,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f.land_size_acres,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s.subcounty_name,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d.district_name,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r.region_name,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c.coop_name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FARMER f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PERSON 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f.national_id = p.national_id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SUBCOUNTY 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f.subcounty_id = s.subcounty_id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DISTRICT 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s.district_id = d.district_id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REGION 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d.region_id = r.region_id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LEFT JOIN COOPERATIVE 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f.cooperative_id = c.cooperative_id;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3200400" y="48463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D4A853"/>
                </a:solidFill>
              </a:rPr>
              <a:t>3 Views: vw_farmer_profile  ·  vw_production_summary  ·  vw_input_distribution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5C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3C4A1"/>
                </a:solidFill>
              </a:rPr>
              <a:t>05  |  SECURITY &amp; AUTOMATION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9319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Stored Procedures &amp; Triggers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60520" cy="38587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4160520" cy="347472"/>
          </a:xfrm>
          <a:prstGeom prst="rect">
            <a:avLst/>
          </a:prstGeom>
          <a:solidFill>
            <a:srgbClr val="1A0A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06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853"/>
                </a:solidFill>
              </a:rPr>
              <a:t>STORED PROCEDURES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536192"/>
            <a:ext cx="54864" cy="521208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55448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0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sp_register_farmer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179222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3A25"/>
                </a:solidFill>
              </a:rPr>
              <a:t>Inserts PERSON + FARMER atomically in a transaction. Rolls back on any error.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203704"/>
            <a:ext cx="54864" cy="521208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22199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0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sp_record_farm_visit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245973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3A25"/>
                </a:solidFill>
              </a:rPr>
              <a:t>Validates worker zone, creates visit record, returns visit_id.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871216"/>
            <a:ext cx="54864" cy="521208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88950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0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sp_record_production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312724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3A25"/>
                </a:solidFill>
              </a:rPr>
              <a:t>Checks plot exists and inserts harvest report with quality grade validation.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3538728"/>
            <a:ext cx="54864" cy="521208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55701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0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sp_distribute_product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6928" y="37947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3A25"/>
                </a:solidFill>
              </a:rPr>
              <a:t>Checks stock level, reduces inventory, records distribution event.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4206240"/>
            <a:ext cx="54864" cy="521208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22452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0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sp_enroll_farmer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6928" y="446227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3A25"/>
                </a:solidFill>
              </a:rPr>
              <a:t>Registers farmer in a training programme after checking remaining capacity.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81728" y="1078992"/>
            <a:ext cx="4133088" cy="2011680"/>
          </a:xfrm>
          <a:prstGeom prst="rect">
            <a:avLst/>
          </a:prstGeom>
          <a:solidFill>
            <a:srgbClr val="2C1A0E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1728" y="1078992"/>
            <a:ext cx="4133088" cy="347472"/>
          </a:xfrm>
          <a:prstGeom prst="rect">
            <a:avLst/>
          </a:prstGeom>
          <a:solidFill>
            <a:srgbClr val="3B1F0C"/>
          </a:solidFill>
          <a:ln/>
        </p:spPr>
      </p:sp>
      <p:sp>
        <p:nvSpPr>
          <p:cNvPr id="25" name="Text 23"/>
          <p:cNvSpPr/>
          <p:nvPr/>
        </p:nvSpPr>
        <p:spPr>
          <a:xfrm>
            <a:off x="4809744" y="1106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853"/>
                </a:solidFill>
              </a:rPr>
              <a:t>TRIGGERS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9744" y="14996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trg_plot_area_check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9744" y="1691640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9956C"/>
                </a:solidFill>
              </a:rPr>
              <a:t>BEFORE INSERT  →  FARM_PLOT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09744" y="184708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ECD7"/>
                </a:solidFill>
              </a:rPr>
              <a:t>Blocks insert if plot area exceeds available farm area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09744" y="2029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trg_audit_farmer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09744" y="2221992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9956C"/>
                </a:solidFill>
              </a:rPr>
              <a:t>AFTER UPDATE  →  FARMER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09744" y="23774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ECD7"/>
                </a:solidFill>
              </a:rPr>
              <a:t>Auto-writes change details to AUDIT_LOG table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09744" y="2560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trg_min_age_check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09744" y="2752344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9956C"/>
                </a:solidFill>
              </a:rPr>
              <a:t>BEFORE INSERT  →  PERSON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09744" y="29077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ECD7"/>
                </a:solidFill>
              </a:rPr>
              <a:t>Rejects insert if farmer is under 18 years of age</a:t>
            </a:r>
            <a:endParaRPr lang="en-US" sz="900" dirty="0"/>
          </a:p>
        </p:txBody>
      </p:sp>
      <p:pic>
        <p:nvPicPr>
          <p:cNvPr id="35" name="Image 0" descr="/home/claude/coffee_far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81728" y="3090672"/>
            <a:ext cx="4133088" cy="1847088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4681728" y="3090672"/>
            <a:ext cx="4133088" cy="1847088"/>
          </a:xfrm>
          <a:prstGeom prst="rect">
            <a:avLst/>
          </a:prstGeom>
          <a:solidFill>
            <a:srgbClr val="1A0A00">
              <a:alpha val="65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4800600" y="320040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"Automation ensures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i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integrity at every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i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entry point"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097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53"/>
                </a:solidFill>
              </a:rPr>
              <a:t>05  |  ROLE-BASED ACCESS CONTROL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Database User Roles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92608" y="1097280"/>
            <a:ext cx="1600200" cy="3767328"/>
          </a:xfrm>
          <a:prstGeom prst="rect">
            <a:avLst/>
          </a:prstGeom>
          <a:solidFill>
            <a:srgbClr val="2C1A0E">
              <a:alpha val="82000"/>
            </a:srgbClr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097280"/>
            <a:ext cx="160020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854964" y="1207008"/>
            <a:ext cx="475488" cy="475488"/>
          </a:xfrm>
          <a:prstGeom prst="ellipse">
            <a:avLst/>
          </a:prstGeom>
          <a:solidFill>
            <a:srgbClr val="3B1F0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1234440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38328" y="176479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Admin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38328" y="2103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995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coffee_admin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29768" y="2496312"/>
            <a:ext cx="1325880" cy="27432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2578608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PRIVILEGES on coffee_mgmt.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maintenance only.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729567" y="1124712"/>
            <a:ext cx="1600200" cy="3767328"/>
          </a:xfrm>
          <a:prstGeom prst="rect">
            <a:avLst/>
          </a:prstGeom>
          <a:solidFill>
            <a:srgbClr val="2C1A0E">
              <a:alpha val="82000"/>
            </a:srgbClr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745653" y="1120140"/>
            <a:ext cx="1600200" cy="54864"/>
          </a:xfrm>
          <a:prstGeom prst="rect">
            <a:avLst/>
          </a:prstGeom>
          <a:solidFill>
            <a:srgbClr val="A3C4A1"/>
          </a:solidFill>
          <a:ln/>
        </p:spPr>
      </p:sp>
      <p:sp>
        <p:nvSpPr>
          <p:cNvPr id="15" name="Shape 12"/>
          <p:cNvSpPr/>
          <p:nvPr/>
        </p:nvSpPr>
        <p:spPr>
          <a:xfrm>
            <a:off x="4333071" y="1228174"/>
            <a:ext cx="475488" cy="475488"/>
          </a:xfrm>
          <a:prstGeom prst="ellipse">
            <a:avLst/>
          </a:prstGeom>
          <a:solidFill>
            <a:srgbClr val="3B1F0C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0503" y="1221909"/>
            <a:ext cx="420624" cy="4206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67920" y="17099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3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Officer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3705522" y="205570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995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coffee_field_officer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3839295" y="2549482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all + INSERT/UPDATE 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&amp; production reports.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7319772" y="1167384"/>
            <a:ext cx="1600200" cy="3767328"/>
          </a:xfrm>
          <a:prstGeom prst="rect">
            <a:avLst/>
          </a:prstGeom>
          <a:solidFill>
            <a:srgbClr val="2C1A0E">
              <a:alpha val="82000"/>
            </a:srgbClr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2" name="Shape 18"/>
          <p:cNvSpPr/>
          <p:nvPr/>
        </p:nvSpPr>
        <p:spPr>
          <a:xfrm>
            <a:off x="7328916" y="1130808"/>
            <a:ext cx="1600200" cy="54864"/>
          </a:xfrm>
          <a:prstGeom prst="rect">
            <a:avLst/>
          </a:prstGeom>
          <a:solidFill>
            <a:srgbClr val="C9956C"/>
          </a:solidFill>
          <a:ln/>
        </p:spPr>
      </p:sp>
      <p:sp>
        <p:nvSpPr>
          <p:cNvPr id="23" name="Shape 19"/>
          <p:cNvSpPr/>
          <p:nvPr/>
        </p:nvSpPr>
        <p:spPr>
          <a:xfrm>
            <a:off x="7896013" y="1335024"/>
            <a:ext cx="475488" cy="475488"/>
          </a:xfrm>
          <a:prstGeom prst="ellipse">
            <a:avLst/>
          </a:prstGeom>
          <a:solidFill>
            <a:srgbClr val="3B1F0C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3445" y="1344168"/>
            <a:ext cx="420624" cy="42062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342632" y="1879092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7328916" y="227990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9956C"/>
                </a:solidFill>
                <a:latin typeface="Consolas" pitchFamily="34" charset="0"/>
              </a:rPr>
              <a:t>Farmer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3867912" y="2496312"/>
            <a:ext cx="1325880" cy="27432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28" name="Text 23"/>
          <p:cNvSpPr/>
          <p:nvPr/>
        </p:nvSpPr>
        <p:spPr>
          <a:xfrm>
            <a:off x="7365323" y="2688336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all + (Only views)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5495544" y="176479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5495544" y="2103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36" name="Text 30"/>
          <p:cNvSpPr/>
          <p:nvPr/>
        </p:nvSpPr>
        <p:spPr>
          <a:xfrm>
            <a:off x="5522976" y="2560320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41" name="Text 34"/>
          <p:cNvSpPr/>
          <p:nvPr/>
        </p:nvSpPr>
        <p:spPr>
          <a:xfrm>
            <a:off x="7214616" y="176479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7214616" y="2103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44" name="Text 37"/>
          <p:cNvSpPr/>
          <p:nvPr/>
        </p:nvSpPr>
        <p:spPr>
          <a:xfrm>
            <a:off x="7242048" y="2578608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292608" y="4754880"/>
            <a:ext cx="8558784" cy="301752"/>
          </a:xfrm>
          <a:prstGeom prst="rect">
            <a:avLst/>
          </a:prstGeom>
          <a:solidFill>
            <a:srgbClr val="1A0A00">
              <a:alpha val="80000"/>
            </a:srgbClr>
          </a:solidFill>
          <a:ln/>
        </p:spPr>
      </p:sp>
      <p:sp>
        <p:nvSpPr>
          <p:cNvPr id="46" name="Text 39"/>
          <p:cNvSpPr/>
          <p:nvPr/>
        </p:nvSpPr>
        <p:spPr>
          <a:xfrm>
            <a:off x="457200" y="479145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4A853"/>
                </a:solidFill>
              </a:rPr>
              <a:t>AUDIT_LOG table automatically records: action type · affected table · changed_by user · timestamp — for full accountability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offee_farm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00">
              <a:alpha val="7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97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53"/>
                </a:solidFill>
              </a:rPr>
              <a:t>06  |  CONCLUSION &amp; FUTURE WORK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4114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Production-Ready Database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347472" y="1078992"/>
            <a:ext cx="5074920" cy="3840480"/>
          </a:xfrm>
          <a:prstGeom prst="rect">
            <a:avLst/>
          </a:prstGeom>
          <a:solidFill>
            <a:srgbClr val="2C1A0E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11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53"/>
                </a:solidFill>
              </a:rPr>
              <a:t>WHAT WAS ACHIEVED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158191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150876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relational schema built from EERD — all 15+ entities correctly modelled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22199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214884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stored procedures encapsulate all complex multi-table operations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862072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68680" y="278892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triggers enforce business rules at the row level automatically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502152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68680" y="342900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role-limited user accounts implement least-privilege access control</a:t>
            </a:r>
            <a:endParaRPr lang="en-US" sz="11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4142232"/>
            <a:ext cx="274320" cy="27432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68680" y="406908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tracks every sensitive data change with user &amp; timestamp</a:t>
            </a:r>
            <a:endParaRPr lang="en-US" sz="1150" dirty="0"/>
          </a:p>
        </p:txBody>
      </p:sp>
      <p:sp>
        <p:nvSpPr>
          <p:cNvPr id="18" name="Shape 10"/>
          <p:cNvSpPr/>
          <p:nvPr/>
        </p:nvSpPr>
        <p:spPr>
          <a:xfrm>
            <a:off x="5641848" y="1078992"/>
            <a:ext cx="3182112" cy="3840480"/>
          </a:xfrm>
          <a:prstGeom prst="rect">
            <a:avLst/>
          </a:prstGeom>
          <a:solidFill>
            <a:srgbClr val="3B1F0C">
              <a:alpha val="82000"/>
            </a:srgbClr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9" name="Text 11"/>
          <p:cNvSpPr/>
          <p:nvPr/>
        </p:nvSpPr>
        <p:spPr>
          <a:xfrm>
            <a:off x="5779008" y="1143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53"/>
                </a:solidFill>
              </a:rPr>
              <a:t>FUTURE ENHANCEMENTS</a:t>
            </a:r>
            <a:endParaRPr lang="en-US" sz="900" dirty="0"/>
          </a:p>
        </p:txBody>
      </p:sp>
      <p:sp>
        <p:nvSpPr>
          <p:cNvPr id="20" name="Shape 12"/>
          <p:cNvSpPr/>
          <p:nvPr/>
        </p:nvSpPr>
        <p:spPr>
          <a:xfrm>
            <a:off x="5733288" y="1572768"/>
            <a:ext cx="2944368" cy="685800"/>
          </a:xfrm>
          <a:prstGeom prst="rect">
            <a:avLst/>
          </a:prstGeom>
          <a:solidFill>
            <a:srgbClr val="2C1A0E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Text 13"/>
          <p:cNvSpPr/>
          <p:nvPr/>
        </p:nvSpPr>
        <p:spPr>
          <a:xfrm>
            <a:off x="5779008" y="1709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2" name="Text 14"/>
          <p:cNvSpPr/>
          <p:nvPr/>
        </p:nvSpPr>
        <p:spPr>
          <a:xfrm>
            <a:off x="6199632" y="163677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D7"/>
                </a:solidFill>
              </a:rPr>
              <a:t>Mobile / web front-end for field officers in rural areas</a:t>
            </a:r>
            <a:endParaRPr lang="en-US" sz="950" dirty="0"/>
          </a:p>
        </p:txBody>
      </p:sp>
      <p:sp>
        <p:nvSpPr>
          <p:cNvPr id="23" name="Shape 15"/>
          <p:cNvSpPr/>
          <p:nvPr/>
        </p:nvSpPr>
        <p:spPr>
          <a:xfrm>
            <a:off x="5733288" y="2377440"/>
            <a:ext cx="2944368" cy="685800"/>
          </a:xfrm>
          <a:prstGeom prst="rect">
            <a:avLst/>
          </a:prstGeom>
          <a:solidFill>
            <a:srgbClr val="2C1A0E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Text 16"/>
          <p:cNvSpPr/>
          <p:nvPr/>
        </p:nvSpPr>
        <p:spPr>
          <a:xfrm>
            <a:off x="5779008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🆔</a:t>
            </a:r>
            <a:endParaRPr lang="en-US" sz="1800" dirty="0"/>
          </a:p>
        </p:txBody>
      </p:sp>
      <p:sp>
        <p:nvSpPr>
          <p:cNvPr id="25" name="Text 17"/>
          <p:cNvSpPr/>
          <p:nvPr/>
        </p:nvSpPr>
        <p:spPr>
          <a:xfrm>
            <a:off x="6199632" y="24414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D7"/>
                </a:solidFill>
              </a:rPr>
              <a:t>NIRA API integration for real-time NIN validation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5733288" y="3182112"/>
            <a:ext cx="2944368" cy="685800"/>
          </a:xfrm>
          <a:prstGeom prst="rect">
            <a:avLst/>
          </a:prstGeom>
          <a:solidFill>
            <a:srgbClr val="2C1A0E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Text 19"/>
          <p:cNvSpPr/>
          <p:nvPr/>
        </p:nvSpPr>
        <p:spPr>
          <a:xfrm>
            <a:off x="5779008" y="3319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📩</a:t>
            </a:r>
            <a:endParaRPr lang="en-US" sz="1800" dirty="0"/>
          </a:p>
        </p:txBody>
      </p:sp>
      <p:sp>
        <p:nvSpPr>
          <p:cNvPr id="28" name="Text 20"/>
          <p:cNvSpPr/>
          <p:nvPr/>
        </p:nvSpPr>
        <p:spPr>
          <a:xfrm>
            <a:off x="6199632" y="32461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D7"/>
                </a:solidFill>
              </a:rPr>
              <a:t>SMS notifications to farmers after input distribution events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5733288" y="3986784"/>
            <a:ext cx="2944368" cy="685800"/>
          </a:xfrm>
          <a:prstGeom prst="rect">
            <a:avLst/>
          </a:prstGeom>
          <a:solidFill>
            <a:srgbClr val="2C1A0E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0" name="Text 22"/>
          <p:cNvSpPr/>
          <p:nvPr/>
        </p:nvSpPr>
        <p:spPr>
          <a:xfrm>
            <a:off x="5779008" y="41239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31" name="Text 23"/>
          <p:cNvSpPr/>
          <p:nvPr/>
        </p:nvSpPr>
        <p:spPr>
          <a:xfrm>
            <a:off x="6199632" y="40507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D7"/>
                </a:solidFill>
              </a:rPr>
              <a:t>GIS layer for GPS-based farm and plot mapping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offee_cu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00">
              <a:alpha val="7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371600" y="1005840"/>
            <a:ext cx="6400800" cy="3291840"/>
          </a:xfrm>
          <a:prstGeom prst="rect">
            <a:avLst/>
          </a:prstGeom>
          <a:solidFill>
            <a:srgbClr val="2C1A0E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2743200" y="1143000"/>
            <a:ext cx="365760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Text 3"/>
          <p:cNvSpPr/>
          <p:nvPr/>
        </p:nvSpPr>
        <p:spPr>
          <a:xfrm>
            <a:off x="0" y="128016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7" name="Shape 4"/>
          <p:cNvSpPr/>
          <p:nvPr/>
        </p:nvSpPr>
        <p:spPr>
          <a:xfrm>
            <a:off x="2743200" y="2633472"/>
            <a:ext cx="365760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8" name="Text 5"/>
          <p:cNvSpPr/>
          <p:nvPr/>
        </p:nvSpPr>
        <p:spPr>
          <a:xfrm>
            <a:off x="0" y="2798064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995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Coffee Management Database System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0" y="3291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ECD7"/>
                </a:solidFill>
              </a:rPr>
              <a:t>Group 4  ·  Uganda Christian University  ·  Easter Semester 2026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0" y="37947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907</Words>
  <Application>Microsoft Office PowerPoint</Application>
  <PresentationFormat>On-screen Show (16:9)</PresentationFormat>
  <Paragraphs>205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Coffee Management Database System</dc:title>
  <dc:subject>PptxGenJS Presentation</dc:subject>
  <dc:creator>Group 4 — Uganda Christian University</dc:creator>
  <cp:lastModifiedBy>HP</cp:lastModifiedBy>
  <cp:revision>3</cp:revision>
  <dcterms:created xsi:type="dcterms:W3CDTF">2026-04-12T16:35:35Z</dcterms:created>
  <dcterms:modified xsi:type="dcterms:W3CDTF">2026-04-13T15:46:46Z</dcterms:modified>
</cp:coreProperties>
</file>